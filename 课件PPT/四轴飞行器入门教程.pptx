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360" r:id="rId3"/>
    <p:sldId id="272" r:id="rId4"/>
    <p:sldId id="305" r:id="rId5"/>
    <p:sldId id="361" r:id="rId6"/>
    <p:sldId id="359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-课程简介" id="{4F468F8E-9AAB-4D28-8F07-A05E7844EAA6}">
          <p14:sldIdLst>
            <p14:sldId id="269"/>
            <p14:sldId id="360"/>
            <p14:sldId id="272"/>
            <p14:sldId id="305"/>
            <p14:sldId id="361"/>
            <p14:sldId id="3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9124F4-4C41-86B2-F031-1F3A2CA3A4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B1CBB9-635A-957E-32DB-FCBCB7DBE2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48BF6A-C5F8-469E-9B7D-711E2AB20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61B72F-F95F-81C7-BAB7-A9177EE0F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BF8A29-1F3F-98B6-AC48-84D65FDB4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237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DA56F-2071-9A5E-B066-FBF5012A5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08F493-DCD0-461D-00F0-5E93FA715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45D41E-ABE3-8D30-D44E-1FE49D877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A5E797-6E3C-1CB1-1078-B43385831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E098A9-41A7-F03B-6425-99E72B61F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893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C0CF7-7F7F-1958-3511-A83C7A1A5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3885B1-E669-021C-67CC-9A0A17B0D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903B95-9861-22A4-07DA-51A2204A3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94C713-F5EA-2B56-AC6E-4993606F9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FE3BC7-5875-FE21-455E-BE9168D27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170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58BD83-B37E-7925-AD24-CC799B363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34864A-0360-0BDF-D4F3-7B5EADADFA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E8E008-4053-BA01-5BA7-7885AEB3E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0F3C59-3B64-DEC7-B791-898EA3E11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7321A7-7CD1-1F9B-AAAB-A70A42914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4B6668-88C2-FFEF-2F33-9A37C3614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628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EE2D72-8C4F-DED3-B45A-597ABA4DD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D0C3BC-EAA6-4002-CD2F-838E13EEB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7A2112-0C9A-F04A-ABCF-3A658B5C8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EA8C619-3C94-A2AD-8C74-366689D486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95BFC44-1F84-797A-32F8-EE55802B8E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D2003E-9A80-9CFB-815D-C031E2014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BA45984-FE11-69D5-1143-08B721015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61F996F-4E2A-B4EF-2782-74D7E3569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022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19DE09-106E-5491-0CA2-F0200EE9F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847C5DC-17CC-4445-83EF-04957D436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1431942-41FD-1058-8F6B-7D674333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79CCE7D-ABEC-1A78-937C-7EBF25EC5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456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9DD7150-F04F-3518-B5F3-2583A1260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50300C5-DBB6-DBD8-7D9C-04974FBA0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2F66C7-12DB-9001-1870-5A53B84D3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60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6B3630-34C1-279F-4C0E-A83E1EC47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F896B8-0E9C-7450-A55A-EB56154D3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3AB4EF-6680-09CE-0496-C6FAC8AF1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C4E805-FD2F-F8D1-63CD-47BD1415A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9F794E-4AE6-27B7-393E-B9A6A9023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B81B9A-147D-BCC1-0B40-290D3E24A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51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67DF00-992E-0E0F-DD87-D3A48B2C5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D91AA3A-1AA7-D3D1-1652-ED5BCF9D1B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F251AD-6520-BB7A-03F5-35E08E35D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8C8530-2A86-D52A-22B0-CCB1DDD28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B549AB-2FFD-86E3-4BD2-6AAA23711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AABEED-9678-2CA6-5C82-1D1B4BC47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72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380C8B-0CD5-8502-8E3E-829BA4B7B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C3227D-0B8C-A38D-BA27-460DF2FBC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B93B8B-694F-72AD-5678-61C6E9983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C81A15-7C3E-2F14-24C9-7E97C7BBD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7E3A4B-3C59-B578-7070-2A9219184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3048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9BAAB18-B1D9-CBF4-15B0-94442BE46F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D3F4237-51B8-F68A-D0CC-CAAE14D156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18F4D2-824B-A39F-8BC3-7683F0CC8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C4899-AD01-4415-A7FD-A2DAE090205E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3D94E7-BD4E-5374-EF24-BFA63289F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1D91E2-3CFE-1222-02AB-03C2BCF9F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51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DA2C4F3-B8D1-07A2-A442-0C1B3325A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97D2EA-ABC2-510D-138C-867D071A5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3A066F-242C-CEDE-B769-33BAA08A75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C4899-AD01-4415-A7FD-A2DAE090205E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76DD34-B325-3DD2-B202-A664DEDB6B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B7E3FA-BCB2-67FF-49F9-65D7A1E2D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134DA-5DC3-49F8-8770-77A3710C5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383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10" Type="http://schemas.openxmlformats.org/officeDocument/2006/relationships/image" Target="../media/image9.png"/><Relationship Id="rId4" Type="http://schemas.openxmlformats.org/officeDocument/2006/relationships/image" Target="../media/image3.jpg"/><Relationship Id="rId9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354737" y="475762"/>
            <a:ext cx="872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课程简介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EF5B06-665C-F2BA-0EFD-4FA45937C44E}"/>
              </a:ext>
            </a:extLst>
          </p:cNvPr>
          <p:cNvGrpSpPr/>
          <p:nvPr/>
        </p:nvGrpSpPr>
        <p:grpSpPr>
          <a:xfrm>
            <a:off x="695999" y="467372"/>
            <a:ext cx="10800002" cy="540000"/>
            <a:chOff x="664415" y="326304"/>
            <a:chExt cx="10800002" cy="540000"/>
          </a:xfrm>
        </p:grpSpPr>
        <p:sp>
          <p:nvSpPr>
            <p:cNvPr id="4" name="圆角矩形 3"/>
            <p:cNvSpPr/>
            <p:nvPr/>
          </p:nvSpPr>
          <p:spPr>
            <a:xfrm>
              <a:off x="664415" y="362305"/>
              <a:ext cx="540000" cy="468000"/>
            </a:xfrm>
            <a:prstGeom prst="roundRect">
              <a:avLst>
                <a:gd name="adj" fmla="val 22610"/>
              </a:avLst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664417" y="843267"/>
              <a:ext cx="10800000" cy="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664416" y="662291"/>
              <a:ext cx="540000" cy="1809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388"/>
            <p:cNvSpPr>
              <a:spLocks/>
            </p:cNvSpPr>
            <p:nvPr/>
          </p:nvSpPr>
          <p:spPr bwMode="auto">
            <a:xfrm>
              <a:off x="783154" y="475854"/>
              <a:ext cx="302522" cy="252000"/>
            </a:xfrm>
            <a:custGeom>
              <a:avLst/>
              <a:gdLst>
                <a:gd name="T0" fmla="*/ 90 w 111"/>
                <a:gd name="T1" fmla="*/ 55 h 106"/>
                <a:gd name="T2" fmla="*/ 111 w 111"/>
                <a:gd name="T3" fmla="*/ 55 h 106"/>
                <a:gd name="T4" fmla="*/ 55 w 111"/>
                <a:gd name="T5" fmla="*/ 0 h 106"/>
                <a:gd name="T6" fmla="*/ 0 w 111"/>
                <a:gd name="T7" fmla="*/ 55 h 106"/>
                <a:gd name="T8" fmla="*/ 20 w 111"/>
                <a:gd name="T9" fmla="*/ 55 h 106"/>
                <a:gd name="T10" fmla="*/ 20 w 111"/>
                <a:gd name="T11" fmla="*/ 106 h 106"/>
                <a:gd name="T12" fmla="*/ 45 w 111"/>
                <a:gd name="T13" fmla="*/ 106 h 106"/>
                <a:gd name="T14" fmla="*/ 45 w 111"/>
                <a:gd name="T15" fmla="*/ 75 h 106"/>
                <a:gd name="T16" fmla="*/ 66 w 111"/>
                <a:gd name="T17" fmla="*/ 75 h 106"/>
                <a:gd name="T18" fmla="*/ 66 w 111"/>
                <a:gd name="T19" fmla="*/ 106 h 106"/>
                <a:gd name="T20" fmla="*/ 90 w 111"/>
                <a:gd name="T21" fmla="*/ 106 h 106"/>
                <a:gd name="T22" fmla="*/ 90 w 111"/>
                <a:gd name="T23" fmla="*/ 5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06">
                  <a:moveTo>
                    <a:pt x="90" y="55"/>
                  </a:moveTo>
                  <a:lnTo>
                    <a:pt x="111" y="55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106"/>
                  </a:lnTo>
                  <a:lnTo>
                    <a:pt x="45" y="106"/>
                  </a:lnTo>
                  <a:lnTo>
                    <a:pt x="45" y="75"/>
                  </a:lnTo>
                  <a:lnTo>
                    <a:pt x="66" y="75"/>
                  </a:lnTo>
                  <a:lnTo>
                    <a:pt x="66" y="106"/>
                  </a:lnTo>
                  <a:lnTo>
                    <a:pt x="90" y="106"/>
                  </a:lnTo>
                  <a:lnTo>
                    <a:pt x="90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CAC7A80-C0BE-38B5-F171-D32D1BA2D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8418" y="326304"/>
              <a:ext cx="1295999" cy="540000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1B4B142-1B25-583D-30BD-A3EFC37EC7AA}"/>
              </a:ext>
            </a:extLst>
          </p:cNvPr>
          <p:cNvSpPr txBox="1"/>
          <p:nvPr/>
        </p:nvSpPr>
        <p:spPr>
          <a:xfrm>
            <a:off x="696000" y="1136949"/>
            <a:ext cx="10800000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第一部分 </a:t>
            </a:r>
            <a:r>
              <a:rPr lang="en-US" altLang="zh-CN" sz="2400">
                <a:latin typeface="+mn-ea"/>
              </a:rPr>
              <a:t>- </a:t>
            </a:r>
            <a:r>
              <a:rPr lang="zh-CN" altLang="en-US" sz="2400">
                <a:latin typeface="+mn-ea"/>
              </a:rPr>
              <a:t>基础驱动</a:t>
            </a:r>
            <a:endParaRPr lang="en-US" altLang="zh-CN" sz="240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zh-CN" sz="2400">
                <a:latin typeface="+mn-ea"/>
              </a:rPr>
              <a:t>OLED</a:t>
            </a:r>
            <a:r>
              <a:rPr lang="zh-CN" altLang="en-US" sz="2400">
                <a:latin typeface="+mn-ea"/>
              </a:rPr>
              <a:t>、</a:t>
            </a:r>
            <a:r>
              <a:rPr lang="en-US" altLang="zh-CN" sz="2400">
                <a:latin typeface="+mn-ea"/>
              </a:rPr>
              <a:t>LED</a:t>
            </a:r>
            <a:r>
              <a:rPr lang="zh-CN" altLang="en-US" sz="2400">
                <a:latin typeface="+mn-ea"/>
              </a:rPr>
              <a:t>、按键、定时器、</a:t>
            </a:r>
            <a:r>
              <a:rPr lang="en-US" altLang="zh-CN" sz="2400">
                <a:latin typeface="+mn-ea"/>
              </a:rPr>
              <a:t>AD</a:t>
            </a:r>
            <a:r>
              <a:rPr lang="zh-CN" altLang="en-US" sz="2400">
                <a:latin typeface="+mn-ea"/>
              </a:rPr>
              <a:t>转换、电机驱动</a:t>
            </a:r>
            <a:endParaRPr lang="en-US" altLang="zh-CN" sz="240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zh-CN" sz="2400">
                <a:latin typeface="+mn-ea"/>
              </a:rPr>
              <a:t>NRF24L01</a:t>
            </a:r>
            <a:r>
              <a:rPr lang="zh-CN" altLang="en-US" sz="2400">
                <a:latin typeface="+mn-ea"/>
              </a:rPr>
              <a:t>、蓝牙串口</a:t>
            </a:r>
            <a:endParaRPr lang="en-US" altLang="zh-CN" sz="240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zh-CN" sz="2400">
                <a:latin typeface="+mn-ea"/>
              </a:rPr>
              <a:t>QMI8658</a:t>
            </a:r>
            <a:r>
              <a:rPr lang="zh-CN" altLang="en-US" sz="2400">
                <a:latin typeface="+mn-ea"/>
              </a:rPr>
              <a:t>、</a:t>
            </a:r>
            <a:r>
              <a:rPr lang="en-US" altLang="zh-CN" sz="2400">
                <a:latin typeface="+mn-ea"/>
              </a:rPr>
              <a:t>QMC6309</a:t>
            </a:r>
            <a:r>
              <a:rPr lang="zh-CN" altLang="en-US" sz="2400">
                <a:latin typeface="+mn-ea"/>
              </a:rPr>
              <a:t>、</a:t>
            </a:r>
            <a:r>
              <a:rPr lang="en-US" altLang="zh-CN" sz="2400">
                <a:latin typeface="+mn-ea"/>
              </a:rPr>
              <a:t>SPA06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400">
                <a:latin typeface="+mn-ea"/>
              </a:rPr>
              <a:t>VL53L1X</a:t>
            </a:r>
            <a:r>
              <a:rPr lang="zh-CN" altLang="en-US" sz="2400">
                <a:latin typeface="+mn-ea"/>
              </a:rPr>
              <a:t>、</a:t>
            </a:r>
            <a:r>
              <a:rPr lang="en-US" altLang="zh-CN" sz="2400">
                <a:latin typeface="+mn-ea"/>
              </a:rPr>
              <a:t>PAA3905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第二部分 </a:t>
            </a:r>
            <a:r>
              <a:rPr lang="en-US" altLang="zh-CN" sz="2400">
                <a:latin typeface="+mn-ea"/>
              </a:rPr>
              <a:t>– </a:t>
            </a:r>
            <a:r>
              <a:rPr lang="zh-CN" altLang="en-US" sz="2400">
                <a:latin typeface="+mn-ea"/>
              </a:rPr>
              <a:t>姿态解算</a:t>
            </a:r>
            <a:endParaRPr lang="en-US" altLang="zh-CN" sz="240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sz="2400">
                <a:latin typeface="+mn-ea"/>
              </a:rPr>
              <a:t>低通滤波器与互补滤波器</a:t>
            </a:r>
            <a:endParaRPr lang="en-US" altLang="zh-CN" sz="240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sz="2400">
                <a:latin typeface="+mn-ea"/>
              </a:rPr>
              <a:t>欧拉角与四元数</a:t>
            </a:r>
            <a:endParaRPr lang="en-US" altLang="zh-CN" sz="240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zh-CN" sz="2400">
                <a:latin typeface="+mn-ea"/>
              </a:rPr>
              <a:t>6</a:t>
            </a:r>
            <a:r>
              <a:rPr lang="zh-CN" altLang="en-US" sz="2400">
                <a:latin typeface="+mn-ea"/>
              </a:rPr>
              <a:t>轴姿态解算</a:t>
            </a:r>
            <a:endParaRPr lang="en-US" altLang="zh-CN" sz="2400">
              <a:latin typeface="+mn-ea"/>
            </a:endParaRP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400">
                <a:latin typeface="+mn-ea"/>
              </a:rPr>
              <a:t>9</a:t>
            </a:r>
            <a:r>
              <a:rPr lang="zh-CN" altLang="en-US" sz="2400">
                <a:latin typeface="+mn-ea"/>
              </a:rPr>
              <a:t>轴姿态解算</a:t>
            </a:r>
            <a:endParaRPr lang="en-US" altLang="zh-CN" sz="2400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第三部分 </a:t>
            </a:r>
            <a:r>
              <a:rPr lang="en-US" altLang="zh-CN" sz="2400">
                <a:latin typeface="+mn-ea"/>
              </a:rPr>
              <a:t>– </a:t>
            </a:r>
            <a:r>
              <a:rPr lang="zh-CN" altLang="en-US" sz="2400">
                <a:latin typeface="+mn-ea"/>
              </a:rPr>
              <a:t>飞控</a:t>
            </a:r>
            <a:endParaRPr lang="en-US" altLang="zh-CN" sz="240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sz="2400">
                <a:latin typeface="+mn-ea"/>
              </a:rPr>
              <a:t>自稳模式</a:t>
            </a:r>
            <a:endParaRPr lang="en-US" altLang="zh-CN" sz="240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sz="2400">
                <a:latin typeface="+mn-ea"/>
              </a:rPr>
              <a:t>定高模式</a:t>
            </a:r>
            <a:endParaRPr lang="en-US" altLang="zh-CN" sz="2400">
              <a:latin typeface="+mn-ea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sz="2400">
                <a:latin typeface="+mn-ea"/>
              </a:rPr>
              <a:t>定点模式</a:t>
            </a:r>
            <a:endParaRPr lang="en-US" altLang="zh-CN" sz="24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89276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354737" y="475762"/>
            <a:ext cx="872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课程系列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EF5B06-665C-F2BA-0EFD-4FA45937C44E}"/>
              </a:ext>
            </a:extLst>
          </p:cNvPr>
          <p:cNvGrpSpPr/>
          <p:nvPr/>
        </p:nvGrpSpPr>
        <p:grpSpPr>
          <a:xfrm>
            <a:off x="695999" y="467372"/>
            <a:ext cx="10800002" cy="540000"/>
            <a:chOff x="664415" y="326304"/>
            <a:chExt cx="10800002" cy="540000"/>
          </a:xfrm>
        </p:grpSpPr>
        <p:sp>
          <p:nvSpPr>
            <p:cNvPr id="4" name="圆角矩形 3"/>
            <p:cNvSpPr/>
            <p:nvPr/>
          </p:nvSpPr>
          <p:spPr>
            <a:xfrm>
              <a:off x="664415" y="362305"/>
              <a:ext cx="540000" cy="468000"/>
            </a:xfrm>
            <a:prstGeom prst="roundRect">
              <a:avLst>
                <a:gd name="adj" fmla="val 22610"/>
              </a:avLst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664417" y="843267"/>
              <a:ext cx="10800000" cy="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664416" y="662291"/>
              <a:ext cx="540000" cy="1809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388"/>
            <p:cNvSpPr>
              <a:spLocks/>
            </p:cNvSpPr>
            <p:nvPr/>
          </p:nvSpPr>
          <p:spPr bwMode="auto">
            <a:xfrm>
              <a:off x="783154" y="475854"/>
              <a:ext cx="302522" cy="252000"/>
            </a:xfrm>
            <a:custGeom>
              <a:avLst/>
              <a:gdLst>
                <a:gd name="T0" fmla="*/ 90 w 111"/>
                <a:gd name="T1" fmla="*/ 55 h 106"/>
                <a:gd name="T2" fmla="*/ 111 w 111"/>
                <a:gd name="T3" fmla="*/ 55 h 106"/>
                <a:gd name="T4" fmla="*/ 55 w 111"/>
                <a:gd name="T5" fmla="*/ 0 h 106"/>
                <a:gd name="T6" fmla="*/ 0 w 111"/>
                <a:gd name="T7" fmla="*/ 55 h 106"/>
                <a:gd name="T8" fmla="*/ 20 w 111"/>
                <a:gd name="T9" fmla="*/ 55 h 106"/>
                <a:gd name="T10" fmla="*/ 20 w 111"/>
                <a:gd name="T11" fmla="*/ 106 h 106"/>
                <a:gd name="T12" fmla="*/ 45 w 111"/>
                <a:gd name="T13" fmla="*/ 106 h 106"/>
                <a:gd name="T14" fmla="*/ 45 w 111"/>
                <a:gd name="T15" fmla="*/ 75 h 106"/>
                <a:gd name="T16" fmla="*/ 66 w 111"/>
                <a:gd name="T17" fmla="*/ 75 h 106"/>
                <a:gd name="T18" fmla="*/ 66 w 111"/>
                <a:gd name="T19" fmla="*/ 106 h 106"/>
                <a:gd name="T20" fmla="*/ 90 w 111"/>
                <a:gd name="T21" fmla="*/ 106 h 106"/>
                <a:gd name="T22" fmla="*/ 90 w 111"/>
                <a:gd name="T23" fmla="*/ 5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06">
                  <a:moveTo>
                    <a:pt x="90" y="55"/>
                  </a:moveTo>
                  <a:lnTo>
                    <a:pt x="111" y="55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106"/>
                  </a:lnTo>
                  <a:lnTo>
                    <a:pt x="45" y="106"/>
                  </a:lnTo>
                  <a:lnTo>
                    <a:pt x="45" y="75"/>
                  </a:lnTo>
                  <a:lnTo>
                    <a:pt x="66" y="75"/>
                  </a:lnTo>
                  <a:lnTo>
                    <a:pt x="66" y="106"/>
                  </a:lnTo>
                  <a:lnTo>
                    <a:pt x="90" y="106"/>
                  </a:lnTo>
                  <a:lnTo>
                    <a:pt x="90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CAC7A80-C0BE-38B5-F171-D32D1BA2D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8418" y="326304"/>
              <a:ext cx="1295999" cy="540000"/>
            </a:xfrm>
            <a:prstGeom prst="rect">
              <a:avLst/>
            </a:prstGeom>
          </p:spPr>
        </p:pic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19874CA-E414-07A1-561D-D1905FF216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917" y="1830718"/>
            <a:ext cx="2412961" cy="180972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5FB4781-48E0-83E6-F496-BBAEBCDBFB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639" y="1830717"/>
            <a:ext cx="2412961" cy="180972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79EE1BE-2F37-9D81-6E68-B7D415F56A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361" y="1830716"/>
            <a:ext cx="2412962" cy="1809721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3BB52DB5-FE76-D876-D2F6-77E6A59823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917" y="4400028"/>
            <a:ext cx="2412961" cy="180972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0B72BBD8-810C-D25F-9CAA-FA53A3EAD9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0771" y="4400027"/>
            <a:ext cx="2412961" cy="1809721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3056F878-E757-DD38-2722-DBEA82A599C7}"/>
              </a:ext>
            </a:extLst>
          </p:cNvPr>
          <p:cNvSpPr txBox="1"/>
          <p:nvPr/>
        </p:nvSpPr>
        <p:spPr>
          <a:xfrm>
            <a:off x="696000" y="1219541"/>
            <a:ext cx="10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主线视频：</a:t>
            </a:r>
            <a:endParaRPr lang="en-US" altLang="zh-CN" sz="2400">
              <a:latin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EA9B9FB-CEC7-CB1C-DF9A-2D04DFE130EA}"/>
              </a:ext>
            </a:extLst>
          </p:cNvPr>
          <p:cNvSpPr txBox="1"/>
          <p:nvPr/>
        </p:nvSpPr>
        <p:spPr>
          <a:xfrm>
            <a:off x="696000" y="3789401"/>
            <a:ext cx="10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支线视频：</a:t>
            </a:r>
            <a:endParaRPr lang="en-US" altLang="zh-CN" sz="2400">
              <a:latin typeface="+mn-ea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5F2199C9-6A5D-B516-7021-4D071495CB1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625" y="4400026"/>
            <a:ext cx="2412961" cy="180972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40F91A7-68E5-BFD8-4FD3-34A46C0C37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5083" y="1831437"/>
            <a:ext cx="2412000" cy="18090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0233603-C598-1828-37A9-1A51F3EF6F8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2480" y="4400026"/>
            <a:ext cx="2412961" cy="180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10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354737" y="475762"/>
            <a:ext cx="872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硬件平台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EF5B06-665C-F2BA-0EFD-4FA45937C44E}"/>
              </a:ext>
            </a:extLst>
          </p:cNvPr>
          <p:cNvGrpSpPr/>
          <p:nvPr/>
        </p:nvGrpSpPr>
        <p:grpSpPr>
          <a:xfrm>
            <a:off x="695999" y="467372"/>
            <a:ext cx="10800002" cy="540000"/>
            <a:chOff x="664415" y="326304"/>
            <a:chExt cx="10800002" cy="540000"/>
          </a:xfrm>
        </p:grpSpPr>
        <p:sp>
          <p:nvSpPr>
            <p:cNvPr id="4" name="圆角矩形 3"/>
            <p:cNvSpPr/>
            <p:nvPr/>
          </p:nvSpPr>
          <p:spPr>
            <a:xfrm>
              <a:off x="664415" y="362305"/>
              <a:ext cx="540000" cy="468000"/>
            </a:xfrm>
            <a:prstGeom prst="roundRect">
              <a:avLst>
                <a:gd name="adj" fmla="val 22610"/>
              </a:avLst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664417" y="843267"/>
              <a:ext cx="10800000" cy="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664416" y="662291"/>
              <a:ext cx="540000" cy="1809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388"/>
            <p:cNvSpPr>
              <a:spLocks/>
            </p:cNvSpPr>
            <p:nvPr/>
          </p:nvSpPr>
          <p:spPr bwMode="auto">
            <a:xfrm>
              <a:off x="783154" y="475854"/>
              <a:ext cx="302522" cy="252000"/>
            </a:xfrm>
            <a:custGeom>
              <a:avLst/>
              <a:gdLst>
                <a:gd name="T0" fmla="*/ 90 w 111"/>
                <a:gd name="T1" fmla="*/ 55 h 106"/>
                <a:gd name="T2" fmla="*/ 111 w 111"/>
                <a:gd name="T3" fmla="*/ 55 h 106"/>
                <a:gd name="T4" fmla="*/ 55 w 111"/>
                <a:gd name="T5" fmla="*/ 0 h 106"/>
                <a:gd name="T6" fmla="*/ 0 w 111"/>
                <a:gd name="T7" fmla="*/ 55 h 106"/>
                <a:gd name="T8" fmla="*/ 20 w 111"/>
                <a:gd name="T9" fmla="*/ 55 h 106"/>
                <a:gd name="T10" fmla="*/ 20 w 111"/>
                <a:gd name="T11" fmla="*/ 106 h 106"/>
                <a:gd name="T12" fmla="*/ 45 w 111"/>
                <a:gd name="T13" fmla="*/ 106 h 106"/>
                <a:gd name="T14" fmla="*/ 45 w 111"/>
                <a:gd name="T15" fmla="*/ 75 h 106"/>
                <a:gd name="T16" fmla="*/ 66 w 111"/>
                <a:gd name="T17" fmla="*/ 75 h 106"/>
                <a:gd name="T18" fmla="*/ 66 w 111"/>
                <a:gd name="T19" fmla="*/ 106 h 106"/>
                <a:gd name="T20" fmla="*/ 90 w 111"/>
                <a:gd name="T21" fmla="*/ 106 h 106"/>
                <a:gd name="T22" fmla="*/ 90 w 111"/>
                <a:gd name="T23" fmla="*/ 5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06">
                  <a:moveTo>
                    <a:pt x="90" y="55"/>
                  </a:moveTo>
                  <a:lnTo>
                    <a:pt x="111" y="55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106"/>
                  </a:lnTo>
                  <a:lnTo>
                    <a:pt x="45" y="106"/>
                  </a:lnTo>
                  <a:lnTo>
                    <a:pt x="45" y="75"/>
                  </a:lnTo>
                  <a:lnTo>
                    <a:pt x="66" y="75"/>
                  </a:lnTo>
                  <a:lnTo>
                    <a:pt x="66" y="106"/>
                  </a:lnTo>
                  <a:lnTo>
                    <a:pt x="90" y="106"/>
                  </a:lnTo>
                  <a:lnTo>
                    <a:pt x="90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CAC7A80-C0BE-38B5-F171-D32D1BA2D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8418" y="326304"/>
              <a:ext cx="1295999" cy="540000"/>
            </a:xfrm>
            <a:prstGeom prst="rect">
              <a:avLst/>
            </a:prstGeom>
          </p:spPr>
        </p:pic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EC5FDAA-C30F-CE32-7032-46C91047C1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99" y="1501299"/>
            <a:ext cx="3655778" cy="487437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ED4A07B-5779-0F99-1CB9-514FDF114B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4889" y="2301227"/>
            <a:ext cx="3429000" cy="3429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7FA9834-7DD0-8D30-EAC0-7D13928982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001" y="2301227"/>
            <a:ext cx="3430800" cy="34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556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354737" y="475762"/>
            <a:ext cx="872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硬件平台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EF5B06-665C-F2BA-0EFD-4FA45937C44E}"/>
              </a:ext>
            </a:extLst>
          </p:cNvPr>
          <p:cNvGrpSpPr/>
          <p:nvPr/>
        </p:nvGrpSpPr>
        <p:grpSpPr>
          <a:xfrm>
            <a:off x="695999" y="467372"/>
            <a:ext cx="10800002" cy="540000"/>
            <a:chOff x="664415" y="326304"/>
            <a:chExt cx="10800002" cy="540000"/>
          </a:xfrm>
        </p:grpSpPr>
        <p:sp>
          <p:nvSpPr>
            <p:cNvPr id="4" name="圆角矩形 3"/>
            <p:cNvSpPr/>
            <p:nvPr/>
          </p:nvSpPr>
          <p:spPr>
            <a:xfrm>
              <a:off x="664415" y="362305"/>
              <a:ext cx="540000" cy="468000"/>
            </a:xfrm>
            <a:prstGeom prst="roundRect">
              <a:avLst>
                <a:gd name="adj" fmla="val 22610"/>
              </a:avLst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664417" y="843267"/>
              <a:ext cx="10800000" cy="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664416" y="662291"/>
              <a:ext cx="540000" cy="1809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388"/>
            <p:cNvSpPr>
              <a:spLocks/>
            </p:cNvSpPr>
            <p:nvPr/>
          </p:nvSpPr>
          <p:spPr bwMode="auto">
            <a:xfrm>
              <a:off x="783154" y="475854"/>
              <a:ext cx="302522" cy="252000"/>
            </a:xfrm>
            <a:custGeom>
              <a:avLst/>
              <a:gdLst>
                <a:gd name="T0" fmla="*/ 90 w 111"/>
                <a:gd name="T1" fmla="*/ 55 h 106"/>
                <a:gd name="T2" fmla="*/ 111 w 111"/>
                <a:gd name="T3" fmla="*/ 55 h 106"/>
                <a:gd name="T4" fmla="*/ 55 w 111"/>
                <a:gd name="T5" fmla="*/ 0 h 106"/>
                <a:gd name="T6" fmla="*/ 0 w 111"/>
                <a:gd name="T7" fmla="*/ 55 h 106"/>
                <a:gd name="T8" fmla="*/ 20 w 111"/>
                <a:gd name="T9" fmla="*/ 55 h 106"/>
                <a:gd name="T10" fmla="*/ 20 w 111"/>
                <a:gd name="T11" fmla="*/ 106 h 106"/>
                <a:gd name="T12" fmla="*/ 45 w 111"/>
                <a:gd name="T13" fmla="*/ 106 h 106"/>
                <a:gd name="T14" fmla="*/ 45 w 111"/>
                <a:gd name="T15" fmla="*/ 75 h 106"/>
                <a:gd name="T16" fmla="*/ 66 w 111"/>
                <a:gd name="T17" fmla="*/ 75 h 106"/>
                <a:gd name="T18" fmla="*/ 66 w 111"/>
                <a:gd name="T19" fmla="*/ 106 h 106"/>
                <a:gd name="T20" fmla="*/ 90 w 111"/>
                <a:gd name="T21" fmla="*/ 106 h 106"/>
                <a:gd name="T22" fmla="*/ 90 w 111"/>
                <a:gd name="T23" fmla="*/ 5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06">
                  <a:moveTo>
                    <a:pt x="90" y="55"/>
                  </a:moveTo>
                  <a:lnTo>
                    <a:pt x="111" y="55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106"/>
                  </a:lnTo>
                  <a:lnTo>
                    <a:pt x="45" y="106"/>
                  </a:lnTo>
                  <a:lnTo>
                    <a:pt x="45" y="75"/>
                  </a:lnTo>
                  <a:lnTo>
                    <a:pt x="66" y="75"/>
                  </a:lnTo>
                  <a:lnTo>
                    <a:pt x="66" y="106"/>
                  </a:lnTo>
                  <a:lnTo>
                    <a:pt x="90" y="106"/>
                  </a:lnTo>
                  <a:lnTo>
                    <a:pt x="90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CAC7A80-C0BE-38B5-F171-D32D1BA2D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8418" y="326304"/>
              <a:ext cx="1295999" cy="540000"/>
            </a:xfrm>
            <a:prstGeom prst="rect">
              <a:avLst/>
            </a:prstGeom>
          </p:spPr>
        </p:pic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1F019A7-2ABD-A87D-8C97-FDD902FE9A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73" y="1719066"/>
            <a:ext cx="3872591" cy="387259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BEA473D-4869-51CF-6900-663F4C8489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050" y="1719065"/>
            <a:ext cx="3872591" cy="387259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7BA6E98-0D7C-F1BC-74CD-334F2B25FB6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/>
        </p:blipFill>
        <p:spPr>
          <a:xfrm>
            <a:off x="8909027" y="1719065"/>
            <a:ext cx="2476657" cy="1857493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32E0CF8E-13CC-3EAE-EE25-282738C4AC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027" y="3734163"/>
            <a:ext cx="2476657" cy="185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735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354737" y="475762"/>
            <a:ext cx="872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软件平台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EF5B06-665C-F2BA-0EFD-4FA45937C44E}"/>
              </a:ext>
            </a:extLst>
          </p:cNvPr>
          <p:cNvGrpSpPr/>
          <p:nvPr/>
        </p:nvGrpSpPr>
        <p:grpSpPr>
          <a:xfrm>
            <a:off x="695999" y="467372"/>
            <a:ext cx="10800002" cy="540000"/>
            <a:chOff x="664415" y="326304"/>
            <a:chExt cx="10800002" cy="540000"/>
          </a:xfrm>
        </p:grpSpPr>
        <p:sp>
          <p:nvSpPr>
            <p:cNvPr id="4" name="圆角矩形 3"/>
            <p:cNvSpPr/>
            <p:nvPr/>
          </p:nvSpPr>
          <p:spPr>
            <a:xfrm>
              <a:off x="664415" y="362305"/>
              <a:ext cx="540000" cy="468000"/>
            </a:xfrm>
            <a:prstGeom prst="roundRect">
              <a:avLst>
                <a:gd name="adj" fmla="val 22610"/>
              </a:avLst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664417" y="843267"/>
              <a:ext cx="10800000" cy="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664416" y="662291"/>
              <a:ext cx="540000" cy="1809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388"/>
            <p:cNvSpPr>
              <a:spLocks/>
            </p:cNvSpPr>
            <p:nvPr/>
          </p:nvSpPr>
          <p:spPr bwMode="auto">
            <a:xfrm>
              <a:off x="783154" y="475854"/>
              <a:ext cx="302522" cy="252000"/>
            </a:xfrm>
            <a:custGeom>
              <a:avLst/>
              <a:gdLst>
                <a:gd name="T0" fmla="*/ 90 w 111"/>
                <a:gd name="T1" fmla="*/ 55 h 106"/>
                <a:gd name="T2" fmla="*/ 111 w 111"/>
                <a:gd name="T3" fmla="*/ 55 h 106"/>
                <a:gd name="T4" fmla="*/ 55 w 111"/>
                <a:gd name="T5" fmla="*/ 0 h 106"/>
                <a:gd name="T6" fmla="*/ 0 w 111"/>
                <a:gd name="T7" fmla="*/ 55 h 106"/>
                <a:gd name="T8" fmla="*/ 20 w 111"/>
                <a:gd name="T9" fmla="*/ 55 h 106"/>
                <a:gd name="T10" fmla="*/ 20 w 111"/>
                <a:gd name="T11" fmla="*/ 106 h 106"/>
                <a:gd name="T12" fmla="*/ 45 w 111"/>
                <a:gd name="T13" fmla="*/ 106 h 106"/>
                <a:gd name="T14" fmla="*/ 45 w 111"/>
                <a:gd name="T15" fmla="*/ 75 h 106"/>
                <a:gd name="T16" fmla="*/ 66 w 111"/>
                <a:gd name="T17" fmla="*/ 75 h 106"/>
                <a:gd name="T18" fmla="*/ 66 w 111"/>
                <a:gd name="T19" fmla="*/ 106 h 106"/>
                <a:gd name="T20" fmla="*/ 90 w 111"/>
                <a:gd name="T21" fmla="*/ 106 h 106"/>
                <a:gd name="T22" fmla="*/ 90 w 111"/>
                <a:gd name="T23" fmla="*/ 5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06">
                  <a:moveTo>
                    <a:pt x="90" y="55"/>
                  </a:moveTo>
                  <a:lnTo>
                    <a:pt x="111" y="55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106"/>
                  </a:lnTo>
                  <a:lnTo>
                    <a:pt x="45" y="106"/>
                  </a:lnTo>
                  <a:lnTo>
                    <a:pt x="45" y="75"/>
                  </a:lnTo>
                  <a:lnTo>
                    <a:pt x="66" y="75"/>
                  </a:lnTo>
                  <a:lnTo>
                    <a:pt x="66" y="106"/>
                  </a:lnTo>
                  <a:lnTo>
                    <a:pt x="90" y="106"/>
                  </a:lnTo>
                  <a:lnTo>
                    <a:pt x="90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CAC7A80-C0BE-38B5-F171-D32D1BA2D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8418" y="326304"/>
              <a:ext cx="1295999" cy="540000"/>
            </a:xfrm>
            <a:prstGeom prst="rect">
              <a:avLst/>
            </a:prstGeom>
          </p:spPr>
        </p:pic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D35F643-5D62-A76F-6135-3D1715998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631" y="4663483"/>
            <a:ext cx="1097143" cy="1080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5ECC712-7D1E-A41F-2AD7-22A7DEDAF0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631" y="1183365"/>
            <a:ext cx="6480000" cy="3446090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6883F715-F0F0-C02E-D488-930BB0A8ED87}"/>
              </a:ext>
            </a:extLst>
          </p:cNvPr>
          <p:cNvSpPr txBox="1"/>
          <p:nvPr/>
        </p:nvSpPr>
        <p:spPr>
          <a:xfrm>
            <a:off x="2075774" y="4663483"/>
            <a:ext cx="2331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+mn-ea"/>
              </a:rPr>
              <a:t>Keil</a:t>
            </a:r>
            <a:r>
              <a:rPr lang="zh-CN" altLang="en-US">
                <a:latin typeface="+mn-ea"/>
              </a:rPr>
              <a:t> </a:t>
            </a:r>
            <a:r>
              <a:rPr lang="en-US" altLang="zh-CN">
                <a:latin typeface="+mn-ea"/>
              </a:rPr>
              <a:t>uVision5 - MDK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BA11F98-4D03-FFCE-2D40-90E799ACB61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74"/>
          <a:stretch/>
        </p:blipFill>
        <p:spPr>
          <a:xfrm>
            <a:off x="8675183" y="1183365"/>
            <a:ext cx="2331844" cy="496558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7757DAB-6B9F-C829-2123-ABF516465D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907" y="5068954"/>
            <a:ext cx="1080000" cy="1080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4487DCD-D80C-9A8E-BA86-9810D373DEBC}"/>
              </a:ext>
            </a:extLst>
          </p:cNvPr>
          <p:cNvSpPr txBox="1"/>
          <p:nvPr/>
        </p:nvSpPr>
        <p:spPr>
          <a:xfrm>
            <a:off x="5252267" y="5502623"/>
            <a:ext cx="2206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atin typeface="+mn-ea"/>
              </a:rPr>
              <a:t>蓝牙串口</a:t>
            </a:r>
            <a:r>
              <a:rPr lang="en-US" altLang="zh-CN">
                <a:latin typeface="+mn-ea"/>
              </a:rPr>
              <a:t>-</a:t>
            </a:r>
            <a:r>
              <a:rPr lang="zh-CN" altLang="en-US">
                <a:latin typeface="+mn-ea"/>
              </a:rPr>
              <a:t>江协科技</a:t>
            </a:r>
            <a:endParaRPr lang="en-US" altLang="zh-CN">
              <a:latin typeface="+mn-ea"/>
            </a:endParaRPr>
          </a:p>
          <a:p>
            <a:pPr algn="ctr"/>
            <a:r>
              <a:rPr lang="zh-CN" altLang="en-US">
                <a:latin typeface="+mn-ea"/>
              </a:rPr>
              <a:t>（微信小程序）</a:t>
            </a:r>
            <a:endParaRPr lang="en-US" altLang="zh-CN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74373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696000" y="1219541"/>
            <a:ext cx="10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>
                <a:latin typeface="+mn-ea"/>
              </a:rPr>
              <a:t>正文</a:t>
            </a:r>
            <a:endParaRPr lang="en-US" altLang="zh-CN" sz="2400">
              <a:latin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54737" y="475762"/>
            <a:ext cx="872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标题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EF5B06-665C-F2BA-0EFD-4FA45937C44E}"/>
              </a:ext>
            </a:extLst>
          </p:cNvPr>
          <p:cNvGrpSpPr/>
          <p:nvPr/>
        </p:nvGrpSpPr>
        <p:grpSpPr>
          <a:xfrm>
            <a:off x="695999" y="467372"/>
            <a:ext cx="10800002" cy="540000"/>
            <a:chOff x="664415" y="326304"/>
            <a:chExt cx="10800002" cy="540000"/>
          </a:xfrm>
        </p:grpSpPr>
        <p:sp>
          <p:nvSpPr>
            <p:cNvPr id="4" name="圆角矩形 3"/>
            <p:cNvSpPr/>
            <p:nvPr/>
          </p:nvSpPr>
          <p:spPr>
            <a:xfrm>
              <a:off x="664415" y="362305"/>
              <a:ext cx="540000" cy="468000"/>
            </a:xfrm>
            <a:prstGeom prst="roundRect">
              <a:avLst>
                <a:gd name="adj" fmla="val 22610"/>
              </a:avLst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664417" y="843267"/>
              <a:ext cx="10800000" cy="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664416" y="662291"/>
              <a:ext cx="540000" cy="1809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388"/>
            <p:cNvSpPr>
              <a:spLocks/>
            </p:cNvSpPr>
            <p:nvPr/>
          </p:nvSpPr>
          <p:spPr bwMode="auto">
            <a:xfrm>
              <a:off x="783154" y="475854"/>
              <a:ext cx="302522" cy="252000"/>
            </a:xfrm>
            <a:custGeom>
              <a:avLst/>
              <a:gdLst>
                <a:gd name="T0" fmla="*/ 90 w 111"/>
                <a:gd name="T1" fmla="*/ 55 h 106"/>
                <a:gd name="T2" fmla="*/ 111 w 111"/>
                <a:gd name="T3" fmla="*/ 55 h 106"/>
                <a:gd name="T4" fmla="*/ 55 w 111"/>
                <a:gd name="T5" fmla="*/ 0 h 106"/>
                <a:gd name="T6" fmla="*/ 0 w 111"/>
                <a:gd name="T7" fmla="*/ 55 h 106"/>
                <a:gd name="T8" fmla="*/ 20 w 111"/>
                <a:gd name="T9" fmla="*/ 55 h 106"/>
                <a:gd name="T10" fmla="*/ 20 w 111"/>
                <a:gd name="T11" fmla="*/ 106 h 106"/>
                <a:gd name="T12" fmla="*/ 45 w 111"/>
                <a:gd name="T13" fmla="*/ 106 h 106"/>
                <a:gd name="T14" fmla="*/ 45 w 111"/>
                <a:gd name="T15" fmla="*/ 75 h 106"/>
                <a:gd name="T16" fmla="*/ 66 w 111"/>
                <a:gd name="T17" fmla="*/ 75 h 106"/>
                <a:gd name="T18" fmla="*/ 66 w 111"/>
                <a:gd name="T19" fmla="*/ 106 h 106"/>
                <a:gd name="T20" fmla="*/ 90 w 111"/>
                <a:gd name="T21" fmla="*/ 106 h 106"/>
                <a:gd name="T22" fmla="*/ 90 w 111"/>
                <a:gd name="T23" fmla="*/ 5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106">
                  <a:moveTo>
                    <a:pt x="90" y="55"/>
                  </a:moveTo>
                  <a:lnTo>
                    <a:pt x="111" y="55"/>
                  </a:lnTo>
                  <a:lnTo>
                    <a:pt x="55" y="0"/>
                  </a:lnTo>
                  <a:lnTo>
                    <a:pt x="0" y="55"/>
                  </a:lnTo>
                  <a:lnTo>
                    <a:pt x="20" y="55"/>
                  </a:lnTo>
                  <a:lnTo>
                    <a:pt x="20" y="106"/>
                  </a:lnTo>
                  <a:lnTo>
                    <a:pt x="45" y="106"/>
                  </a:lnTo>
                  <a:lnTo>
                    <a:pt x="45" y="75"/>
                  </a:lnTo>
                  <a:lnTo>
                    <a:pt x="66" y="75"/>
                  </a:lnTo>
                  <a:lnTo>
                    <a:pt x="66" y="106"/>
                  </a:lnTo>
                  <a:lnTo>
                    <a:pt x="90" y="106"/>
                  </a:lnTo>
                  <a:lnTo>
                    <a:pt x="90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CAC7A80-C0BE-38B5-F171-D32D1BA2D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8418" y="326304"/>
              <a:ext cx="1295999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81039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8069</TotalTime>
  <Words>102</Words>
  <Application>Microsoft Office PowerPoint</Application>
  <PresentationFormat>宽屏</PresentationFormat>
  <Paragraphs>26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 Admin</dc:creator>
  <cp:lastModifiedBy>H Admin</cp:lastModifiedBy>
  <cp:revision>456</cp:revision>
  <dcterms:created xsi:type="dcterms:W3CDTF">2023-11-10T13:55:36Z</dcterms:created>
  <dcterms:modified xsi:type="dcterms:W3CDTF">2026-07-21T13:41:38Z</dcterms:modified>
</cp:coreProperties>
</file>